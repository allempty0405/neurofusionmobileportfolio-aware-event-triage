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1174fbbadc4eee" /><Relationship Type="http://schemas.openxmlformats.org/officeDocument/2006/relationships/extended-properties" Target="/docProps/app.xml" Id="Rceaf8e0af03d49a6" /><Relationship Type="http://schemas.openxmlformats.org/officeDocument/2006/relationships/officeDocument" Target="/ppt/presentation.xml" Id="Re6faac8b074642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c09faa2bfb49f3"/>
  </p:sldMasterIdLst>
  <p:notesMasterIdLst>
    <p:notesMasterId xmlns:r="http://schemas.openxmlformats.org/officeDocument/2006/relationships" r:id="Rfafb214a6da24570"/>
  </p:notesMasterIdLst>
  <p:sldIdLst>
    <p:sldId xmlns:r="http://schemas.openxmlformats.org/officeDocument/2006/relationships" id="256" r:id="R6d877da4d96549fa"/>
    <p:sldId xmlns:r="http://schemas.openxmlformats.org/officeDocument/2006/relationships" id="257" r:id="R34f29c846fc3410f"/>
    <p:sldId xmlns:r="http://schemas.openxmlformats.org/officeDocument/2006/relationships" id="258" r:id="R8c6e883b801d44cc"/>
    <p:sldId xmlns:r="http://schemas.openxmlformats.org/officeDocument/2006/relationships" id="259" r:id="R2a6e2f52f4b2458f"/>
    <p:sldId xmlns:r="http://schemas.openxmlformats.org/officeDocument/2006/relationships" id="260" r:id="Rcd9f52b8b96542a9"/>
    <p:sldId xmlns:r="http://schemas.openxmlformats.org/officeDocument/2006/relationships" id="261" r:id="R7e49348eeb3f4552"/>
    <p:sldId xmlns:r="http://schemas.openxmlformats.org/officeDocument/2006/relationships" id="262" r:id="R2baa5ec9a75a44b7"/>
    <p:sldId xmlns:r="http://schemas.openxmlformats.org/officeDocument/2006/relationships" id="263" r:id="Rcc88443ee38b4294"/>
    <p:sldId xmlns:r="http://schemas.openxmlformats.org/officeDocument/2006/relationships" id="264" r:id="Re431cc44675f4872"/>
    <p:sldId xmlns:r="http://schemas.openxmlformats.org/officeDocument/2006/relationships" id="265" r:id="R29a9385e7e6d4d0d"/>
    <p:sldId xmlns:r="http://schemas.openxmlformats.org/officeDocument/2006/relationships" id="266" r:id="R3f796103d4744bc4"/>
    <p:sldId xmlns:r="http://schemas.openxmlformats.org/officeDocument/2006/relationships" id="267" r:id="R6b8cda8f1409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924336f32473f" /><Relationship Type="http://schemas.openxmlformats.org/officeDocument/2006/relationships/slideMaster" Target="/ppt/slideMasters/slideMaster1.xml" Id="Ra2c09faa2bfb49f3" /><Relationship Type="http://schemas.openxmlformats.org/officeDocument/2006/relationships/notesMaster" Target="/ppt/notesMasters/notesMaster1.xml" Id="Rfafb214a6da24570" /><Relationship Type="http://schemas.openxmlformats.org/officeDocument/2006/relationships/presProps" Target="/ppt/presProps.xml" Id="Rbcd5391efe1341f3" /><Relationship Type="http://schemas.openxmlformats.org/officeDocument/2006/relationships/tableStyles" Target="/ppt/tableStyles.xml" Id="R79998b08fcb14808" /><Relationship Type="http://schemas.openxmlformats.org/officeDocument/2006/relationships/slide" Target="/ppt/slides/slide1.xml" Id="R6d877da4d96549fa" /><Relationship Type="http://schemas.openxmlformats.org/officeDocument/2006/relationships/slide" Target="/ppt/slides/slide2.xml" Id="R34f29c846fc3410f" /><Relationship Type="http://schemas.openxmlformats.org/officeDocument/2006/relationships/slide" Target="/ppt/slides/slide3.xml" Id="R8c6e883b801d44cc" /><Relationship Type="http://schemas.openxmlformats.org/officeDocument/2006/relationships/slide" Target="/ppt/slides/slide4.xml" Id="R2a6e2f52f4b2458f" /><Relationship Type="http://schemas.openxmlformats.org/officeDocument/2006/relationships/slide" Target="/ppt/slides/slide5.xml" Id="Rcd9f52b8b96542a9" /><Relationship Type="http://schemas.openxmlformats.org/officeDocument/2006/relationships/slide" Target="/ppt/slides/slide6.xml" Id="R7e49348eeb3f4552" /><Relationship Type="http://schemas.openxmlformats.org/officeDocument/2006/relationships/slide" Target="/ppt/slides/slide7.xml" Id="R2baa5ec9a75a44b7" /><Relationship Type="http://schemas.openxmlformats.org/officeDocument/2006/relationships/slide" Target="/ppt/slides/slide8.xml" Id="Rcc88443ee38b4294" /><Relationship Type="http://schemas.openxmlformats.org/officeDocument/2006/relationships/slide" Target="/ppt/slides/slide9.xml" Id="Re431cc44675f4872" /><Relationship Type="http://schemas.openxmlformats.org/officeDocument/2006/relationships/slide" Target="/ppt/slides/slide10.xml" Id="R29a9385e7e6d4d0d" /><Relationship Type="http://schemas.openxmlformats.org/officeDocument/2006/relationships/slide" Target="/ppt/slides/slide11.xml" Id="R3f796103d4744bc4" /><Relationship Type="http://schemas.openxmlformats.org/officeDocument/2006/relationships/slide" Target="/ppt/slides/slide12.xml" Id="R6b8cda8f1409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4d64ab70be45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4270faca20481f" /><Relationship Type="http://schemas.openxmlformats.org/officeDocument/2006/relationships/notesMaster" Target="/ppt/notesMasters/notesMaster1.xml" Id="R44640c5dd26a49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699760a7804937" /><Relationship Type="http://schemas.openxmlformats.org/officeDocument/2006/relationships/notesMaster" Target="/ppt/notesMasters/notesMaster1.xml" Id="Rbc027eb2ec7947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c385298d5644d0" /><Relationship Type="http://schemas.openxmlformats.org/officeDocument/2006/relationships/notesMaster" Target="/ppt/notesMasters/notesMaster1.xml" Id="R505fb64f3f44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e3b60311534b25" /><Relationship Type="http://schemas.openxmlformats.org/officeDocument/2006/relationships/notesMaster" Target="/ppt/notesMasters/notesMaster1.xml" Id="Rb7d1c19e95814d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11867fcedc4c97" /><Relationship Type="http://schemas.openxmlformats.org/officeDocument/2006/relationships/notesMaster" Target="/ppt/notesMasters/notesMaster1.xml" Id="Re26df2569d3a49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8ad1c3b7da4735" /><Relationship Type="http://schemas.openxmlformats.org/officeDocument/2006/relationships/notesMaster" Target="/ppt/notesMasters/notesMaster1.xml" Id="R16b3911c7cc54a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855fdd936440af" /><Relationship Type="http://schemas.openxmlformats.org/officeDocument/2006/relationships/notesMaster" Target="/ppt/notesMasters/notesMaster1.xml" Id="R7a025282862640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79ed2ee6194daa" /><Relationship Type="http://schemas.openxmlformats.org/officeDocument/2006/relationships/notesMaster" Target="/ppt/notesMasters/notesMaster1.xml" Id="R9b6772b0aa2e49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e1a821bd8b4a56" /><Relationship Type="http://schemas.openxmlformats.org/officeDocument/2006/relationships/notesMaster" Target="/ppt/notesMasters/notesMaster1.xml" Id="R46b58d6466ec40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011a45b00f4d5b" /><Relationship Type="http://schemas.openxmlformats.org/officeDocument/2006/relationships/notesMaster" Target="/ppt/notesMasters/notesMaster1.xml" Id="Rb192be37451843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31394a711b4f97" /><Relationship Type="http://schemas.openxmlformats.org/officeDocument/2006/relationships/notesMaster" Target="/ppt/notesMasters/notesMaster1.xml" Id="R11f77ec9730d43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9dc7ec76b24bf9" /><Relationship Type="http://schemas.openxmlformats.org/officeDocument/2006/relationships/notesMaster" Target="/ppt/notesMasters/notesMaster1.xml" Id="R83231fa892714c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docs/CURRENT_STATE.md</a:t>
            </a:r>
          </a:p>
          <a:p xmlns:a="http://schemas.openxmlformats.org/drawingml/2006/main">
            <a:r>
              <a:t>docs/DESIGN_QA.md</a:t>
            </a:r>
          </a:p>
          <a:p xmlns:a="http://schemas.openxmlformats.org/drawingml/2006/main">
            <a:r>
              <a:t>artifacts/high-fidelity/visual-qa-report.json</a:t>
            </a:r>
          </a:p>
          <a:p xmlns:a="http://schemas.openxmlformats.org/drawingml/2006/main">
            <a:r>
              <a:t>artifacts/high-fidelity/390x844-normal.png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screen purpose</a:t>
            </a:r>
          </a:p>
          <a:p xmlns:a="http://schemas.openxmlformats.org/drawingml/2006/main">
            <a:r>
              <a:t>docs/PORTFOLIO_PRESENTATION_STRUCTURE.md</a:t>
            </a:r>
          </a:p>
          <a:p xmlns:a="http://schemas.openxmlformats.org/drawingml/2006/main">
            <a:r>
              <a:t>artifacts/high-fidelity/360x800-normal.png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mobile/web boundary</a:t>
            </a:r>
          </a:p>
          <a:p xmlns:a="http://schemas.openxmlformats.org/drawingml/2006/main">
            <a:r>
              <a:t>design-system/patterns/investment-analysis-screen.md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locked information hierarchy</a:t>
            </a:r>
          </a:p>
          <a:p xmlns:a="http://schemas.openxmlformats.org/drawingml/2006/main">
            <a:r>
              <a:t>docs/FIGMA_DECK_DESIGN_EXTRACTION.md</a:t>
            </a:r>
          </a:p>
          <a:p xmlns:a="http://schemas.openxmlformats.org/drawingml/2006/main">
            <a:r>
              <a:t>artifacts/high-fidelity/390x844-normal.png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prototype/high-fidelity/index.html</a:t>
            </a:r>
          </a:p>
          <a:p xmlns:a="http://schemas.openxmlformats.org/drawingml/2006/main">
            <a:r>
              <a:t>docs/FIGMA_DECK_DESIGN_EXTRACTION.md</a:t>
            </a:r>
          </a:p>
          <a:p xmlns:a="http://schemas.openxmlformats.org/drawingml/2006/main">
            <a:r>
              <a:t>artifacts/high-fidelity/360x800-normal.png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outcome semantic contract</a:t>
            </a:r>
          </a:p>
          <a:p xmlns:a="http://schemas.openxmlformats.org/drawingml/2006/main">
            <a:r>
              <a:t>docs/DESIGN_QA.md financial safety</a:t>
            </a:r>
          </a:p>
          <a:p xmlns:a="http://schemas.openxmlformats.org/drawingml/2006/main">
            <a:r>
              <a:t>artifacts/high-fidelity/360x800-normal.png</a:t>
            </a:r>
          </a:p>
          <a:p xmlns:a="http://schemas.openxmlformats.org/drawingml/2006/main">
            <a:r>
              <a:t>artifacts/high-fidelity/360x800-watchlist.png</a:t>
            </a:r>
          </a:p>
          <a:p xmlns:a="http://schemas.openxmlformats.org/drawingml/2006/main">
            <a:r>
              <a:t>artifacts/high-fidelity/360x800-insufficient.png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portfolio context</a:t>
            </a:r>
          </a:p>
          <a:p xmlns:a="http://schemas.openxmlformats.org/drawingml/2006/main">
            <a:r>
              <a:t>docs/DESIGN_QA.md portfolio/watchlist separation</a:t>
            </a:r>
          </a:p>
          <a:p xmlns:a="http://schemas.openxmlformats.org/drawingml/2006/main">
            <a:r>
              <a:t>artifacts/high-fidelity/360x800-normal.png</a:t>
            </a:r>
          </a:p>
          <a:p xmlns:a="http://schemas.openxmlformats.org/drawingml/2006/main">
            <a:r>
              <a:t>artifacts/high-fidelity/360x800-watchlist.png</a:t>
            </a:r>
          </a:p>
          <a:p xmlns:a="http://schemas.openxmlformats.org/drawingml/2006/main">
            <a:r>
              <a:t>artifacts/high-fidelity/360x800-related.png</a:t>
            </a:r>
          </a:p>
          <a:p xmlns:a="http://schemas.openxmlformats.org/drawingml/2006/main">
            <a:r>
              <a:t>artifacts/high-fidelity/360x800-unconnected.png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docs/DESIGN.md state matrix</a:t>
            </a:r>
          </a:p>
          <a:p xmlns:a="http://schemas.openxmlformats.org/drawingml/2006/main">
            <a:r>
              <a:t>design-system/patterns/trust-and-data-state.md</a:t>
            </a:r>
          </a:p>
          <a:p xmlns:a="http://schemas.openxmlformats.org/drawingml/2006/main">
            <a:r>
              <a:t>artifacts/high-fidelity trust state screenshots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artifacts/high-fidelity/320x800-normal.png</a:t>
            </a:r>
          </a:p>
          <a:p xmlns:a="http://schemas.openxmlformats.org/drawingml/2006/main">
            <a:r>
              <a:t>artifacts/high-fidelity/360x800-normal.png</a:t>
            </a:r>
          </a:p>
          <a:p xmlns:a="http://schemas.openxmlformats.org/drawingml/2006/main">
            <a:r>
              <a:t>artifacts/high-fidelity/390x844-normal.png</a:t>
            </a:r>
          </a:p>
          <a:p xmlns:a="http://schemas.openxmlformats.org/drawingml/2006/main">
            <a:r>
              <a:t>artifacts/high-fidelity/visual-qa-report.json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artifacts/high-fidelity/visual-qa-report.json</a:t>
            </a:r>
          </a:p>
          <a:p xmlns:a="http://schemas.openxmlformats.org/drawingml/2006/main">
            <a:r>
              <a:t>artifacts/high-fidelity/static-qa-report.json</a:t>
            </a:r>
          </a:p>
          <a:p xmlns:a="http://schemas.openxmlformats.org/drawingml/2006/main">
            <a:r>
              <a:t>docs/DESIGN_QA.md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design-system/README.md</a:t>
            </a:r>
          </a:p>
          <a:p xmlns:a="http://schemas.openxmlformats.org/drawingml/2006/main">
            <a:r>
              <a:t>design-system/tokens/valley-reference-tokens.css</a:t>
            </a:r>
          </a:p>
          <a:p xmlns:a="http://schemas.openxmlformats.org/drawingml/2006/main">
            <a:r>
              <a:t>design-system/components/</a:t>
            </a:r>
          </a:p>
          <a:p xmlns:a="http://schemas.openxmlformats.org/drawingml/2006/main">
            <a:r>
              <a:t>design-system/patterns/</a:t>
            </a:r>
          </a:p>
          <a:p xmlns:a="http://schemas.openxmlformats.org/drawingml/2006/main">
            <a:r>
              <a:t>docs/FIGMA_DECK_DESIGN_EXTRACTION.md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docs/CURRENT_STATE.md</a:t>
            </a:r>
          </a:p>
          <a:p xmlns:a="http://schemas.openxmlformats.org/drawingml/2006/main">
            <a:r>
              <a:t>docs/DESIGN_QA.md</a:t>
            </a:r>
          </a:p>
          <a:p xmlns:a="http://schemas.openxmlformats.org/drawingml/2006/main">
            <a:r>
              <a:t>docs/PORTFOLIO_PRESENTATION_STRUCTURE.md</a:t>
            </a:r>
          </a:p>
          <a:p xmlns:a="http://schemas.openxmlformats.org/drawingml/2006/main">
            <a:r>
              <a:t>Boundary: High-fidelity concept/mock fixture only. Screen Reader NOT_TESTED. Real App/Web Back NOT_TESTED. Production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ad797b078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6c6428a4124948" /><Relationship Type="http://schemas.openxmlformats.org/officeDocument/2006/relationships/slideLayout" Target="/ppt/slideLayouts/slideLayout1.xml" Id="Rc07e4d4a663f4d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e4d4a663f4d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e7e05fe8c4a74" /><Relationship Type="http://schemas.openxmlformats.org/officeDocument/2006/relationships/image" Target="/ppt/media/image.jpeg" Id="R030f787c0fbe470f" /><Relationship Type="http://schemas.openxmlformats.org/officeDocument/2006/relationships/notesSlide" Target="/ppt/notesSlides/notesSlide1.xml" Id="R24abe2b3c02c44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76251cdc1448d" /><Relationship Type="http://schemas.openxmlformats.org/officeDocument/2006/relationships/image" Target="/ppt/media/image2.jpeg" Id="Rcd2d7b2091c446fe" /><Relationship Type="http://schemas.openxmlformats.org/officeDocument/2006/relationships/notesSlide" Target="/ppt/notesSlides/notesSlide2.xml" Id="R63966aef66374f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b4381a0b14c82" /><Relationship Type="http://schemas.openxmlformats.org/officeDocument/2006/relationships/notesSlide" Target="/ppt/notesSlides/notesSlide3.xml" Id="R8df0e357d44047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99ef97cdc430f" /><Relationship Type="http://schemas.openxmlformats.org/officeDocument/2006/relationships/image" Target="/ppt/media/image3.jpeg" Id="R9333313946764ab7" /><Relationship Type="http://schemas.openxmlformats.org/officeDocument/2006/relationships/notesSlide" Target="/ppt/notesSlides/notesSlide4.xml" Id="R9a92d9dd461a40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deec6180f4d4a" /><Relationship Type="http://schemas.openxmlformats.org/officeDocument/2006/relationships/image" Target="/ppt/media/image4.jpeg" Id="R5a70c2547c4c4537" /><Relationship Type="http://schemas.openxmlformats.org/officeDocument/2006/relationships/notesSlide" Target="/ppt/notesSlides/notesSlide5.xml" Id="R1279dcb721d8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090d3a5234211" /><Relationship Type="http://schemas.openxmlformats.org/officeDocument/2006/relationships/image" Target="/ppt/media/image5.jpeg" Id="Rc1e5437777e3430e" /><Relationship Type="http://schemas.openxmlformats.org/officeDocument/2006/relationships/image" Target="/ppt/media/image6.jpeg" Id="R7fc1183f854c456d" /><Relationship Type="http://schemas.openxmlformats.org/officeDocument/2006/relationships/image" Target="/ppt/media/image7.jpeg" Id="Rda283a7e0a1541ed" /><Relationship Type="http://schemas.openxmlformats.org/officeDocument/2006/relationships/notesSlide" Target="/ppt/notesSlides/notesSlide6.xml" Id="R636b8e598e7c4c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866e96b6435c" /><Relationship Type="http://schemas.openxmlformats.org/officeDocument/2006/relationships/image" Target="/ppt/media/image8.jpeg" Id="R66832d706e03442f" /><Relationship Type="http://schemas.openxmlformats.org/officeDocument/2006/relationships/image" Target="/ppt/media/image9.jpeg" Id="R457bfd2289aa4c22" /><Relationship Type="http://schemas.openxmlformats.org/officeDocument/2006/relationships/image" Target="/ppt/media/image10.jpeg" Id="R5d60f7865b674053" /><Relationship Type="http://schemas.openxmlformats.org/officeDocument/2006/relationships/image" Target="/ppt/media/image11.jpeg" Id="R4f2455b5570a47d3" /><Relationship Type="http://schemas.openxmlformats.org/officeDocument/2006/relationships/notesSlide" Target="/ppt/notesSlides/notesSlide7.xml" Id="R6ec7a7b66c7747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7e0f4d34c4b8a" /><Relationship Type="http://schemas.openxmlformats.org/officeDocument/2006/relationships/image" Target="/ppt/media/image12.jpeg" Id="R999cd72bac364505" /><Relationship Type="http://schemas.openxmlformats.org/officeDocument/2006/relationships/image" Target="/ppt/media/image13.jpeg" Id="Rd6f5a61ce6dd46f7" /><Relationship Type="http://schemas.openxmlformats.org/officeDocument/2006/relationships/image" Target="/ppt/media/image14.jpeg" Id="Rfcc43888bb01453b" /><Relationship Type="http://schemas.openxmlformats.org/officeDocument/2006/relationships/image" Target="/ppt/media/image15.jpeg" Id="R125df09f35b846c5" /><Relationship Type="http://schemas.openxmlformats.org/officeDocument/2006/relationships/image" Target="/ppt/media/image16.jpeg" Id="R4959cf47a5ca405c" /><Relationship Type="http://schemas.openxmlformats.org/officeDocument/2006/relationships/image" Target="/ppt/media/image17.jpeg" Id="R95181956f60a4735" /><Relationship Type="http://schemas.openxmlformats.org/officeDocument/2006/relationships/notesSlide" Target="/ppt/notesSlides/notesSlide8.xml" Id="R18194f12ce874c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af65a29b4caa" /><Relationship Type="http://schemas.openxmlformats.org/officeDocument/2006/relationships/image" Target="/ppt/media/image18.jpeg" Id="Rf803f62a002748cf" /><Relationship Type="http://schemas.openxmlformats.org/officeDocument/2006/relationships/image" Target="/ppt/media/image19.jpeg" Id="R57625e51525949b8" /><Relationship Type="http://schemas.openxmlformats.org/officeDocument/2006/relationships/image" Target="/ppt/media/image20.jpeg" Id="Rd36a035d68ca44da" /><Relationship Type="http://schemas.openxmlformats.org/officeDocument/2006/relationships/notesSlide" Target="/ppt/notesSlides/notesSlide9.xml" Id="Rdaf269d09b1245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8c229284143a6" /><Relationship Type="http://schemas.openxmlformats.org/officeDocument/2006/relationships/image" Target="/ppt/media/image21.jpeg" Id="R52034e0d2d764656" /><Relationship Type="http://schemas.openxmlformats.org/officeDocument/2006/relationships/notesSlide" Target="/ppt/notesSlides/notesSlide10.xml" Id="Rb4dd85e7bffb4a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ac113223044e9" /><Relationship Type="http://schemas.openxmlformats.org/officeDocument/2006/relationships/notesSlide" Target="/ppt/notesSlides/notesSlide11.xml" Id="R02c38d902bd646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f68a977374066" /><Relationship Type="http://schemas.openxmlformats.org/officeDocument/2006/relationships/notesSlide" Target="/ppt/notesSlides/notesSlide12.xml" Id="R78bfbaaadd4248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F8E23-5AB9-4373-BA85-686DE07C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67F3C-0251-4270-B3EE-98B33D3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F668B-830F-4B2B-BD57-6C48880D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01 · GATE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4E95C-54CE-429A-A848-79D118DA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Portfolio-aware Event Triage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2773F-96F7-459B-B33A-90D8F66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A mobile triage concept that explains event relevance through personal context, evidence, and explicit limits.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f787c0fbe470f"/>
          <a:stretch xmlns:a="http://schemas.openxmlformats.org/drawingml/2006/main"/>
        </p:blipFill>
        <p:spPr>
          <a:xfrm xmlns:a="http://schemas.openxmlformats.org/drawingml/2006/main">
            <a:off x="8138372" y="609600"/>
            <a:ext cx="1916007" cy="55626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E4BB7-BFA0-4930-B9A2-5872C83B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1912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E6144-2F36-4689-8338-082F1A9D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272A"/>
                </a:solidFill>
              </a:defRPr>
            </a:pPr>
            <a:r>
              <a:rPr sz="1125" b="1">
                <a:solidFill>
                  <a:srgbClr val="27272A"/>
                </a:solidFill>
              </a:rPr>
              <a:t>Current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ED12E-9067-42E6-8C7A-6E4368A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3C833-242E-4462-ACE5-53491EF0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3F46"/>
                </a:solidFill>
              </a:defRPr>
            </a:pPr>
            <a:r>
              <a:rPr sz="1350" b="0">
                <a:solidFill>
                  <a:srgbClr val="3F3F46"/>
                </a:solidFill>
              </a:rPr>
              <a:t>High-fidelity design, static QA, and Chromium visual QA passed.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480199-08CE-4915-8BF4-01A36F13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C9801-A5D8-46FF-88BA-FB070F8B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3F46"/>
                </a:solidFill>
              </a:defRPr>
            </a:pPr>
            <a:r>
              <a:rPr sz="1350" b="0">
                <a:solidFill>
                  <a:srgbClr val="3F3F46"/>
                </a:solidFill>
              </a:rPr>
              <a:t>The frame set remains concept/mock bounded.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A0733-CA50-45A6-BFAE-6C2A3132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A2A517-2CEE-42A1-8320-B5267158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F3F46"/>
                </a:solidFill>
              </a:defRPr>
            </a:pPr>
            <a:r>
              <a:rPr sz="1350" b="0">
                <a:solidFill>
                  <a:srgbClr val="3F3F46"/>
                </a:solidFill>
              </a:rPr>
              <a:t>Production, screen reader, and real app/web back remain unresolved.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79195-8948-4969-8DE3-A4B5B77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676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8745F-D99F-4475-8FED-514B4DC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86350"/>
            <a:ext cx="1428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2626"/>
                </a:solidFill>
              </a:defRPr>
            </a:pPr>
            <a:r>
              <a:rPr sz="825" b="1">
                <a:solidFill>
                  <a:srgbClr val="DC2626"/>
                </a:solidFill>
              </a:rPr>
              <a:t>Production BLOCKED</a:t>
            </a:r>
          </a:p>
        </p:txBody>
      </p:sp>
    </p:spTree>
    <p:extLst>
      <p:ext uri="{BB962C8B-B14F-4D97-AF65-F5344CB8AC3E}">
        <p14:creationId xmlns:p14="http://schemas.microsoft.com/office/powerpoint/2010/main" val="18165601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BF70F-9F7D-4090-A670-CE97411F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4BD0B-1F61-4DD9-9129-CD472434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5E0B0-9408-4F94-9363-4FC56B5F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02 · PROBLEM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7F2AF-8BA3-46F8-98B3-60CBF0B2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Mobile has to answer relevance before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69047-477F-49A9-BC8B-8C2319E3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The key job is not to compress the web workspace. It is to help users understand what happened, what it touches, and whether the evidence is enough to inspect further.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d7b2091c446fe"/>
          <a:stretch xmlns:a="http://schemas.openxmlformats.org/drawingml/2006/main"/>
        </p:blipFill>
        <p:spPr>
          <a:xfrm xmlns:a="http://schemas.openxmlformats.org/drawingml/2006/main">
            <a:off x="8195495" y="819150"/>
            <a:ext cx="1573160" cy="52197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D342B-0D9A-4F07-907B-2260237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38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00AAF-E656-49FE-8927-7C9BDE4F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F3F46"/>
                </a:solidFill>
              </a:defRPr>
            </a:pPr>
            <a:r>
              <a:rPr sz="1500" b="0">
                <a:solidFill>
                  <a:srgbClr val="3F3F46"/>
                </a:solidFill>
              </a:rPr>
              <a:t>Market events are noisy unless tied to a specific asset relationship.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86864-FDD8-4395-87C7-6B7DE58C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CDF71-517F-4138-BD41-92D3C23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F3F46"/>
                </a:solidFill>
              </a:defRPr>
            </a:pPr>
            <a:r>
              <a:rPr sz="1500" b="0">
                <a:solidFill>
                  <a:srgbClr val="3F3F46"/>
                </a:solidFill>
              </a:rPr>
              <a:t>Personal context must separate Holding, Watchlist, Related-only, and Unconnected.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8E6B5-A26B-4BE4-AC5E-DD054711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1781E-B16C-459E-BE8B-BAE0B6EF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F3F46"/>
                </a:solidFill>
              </a:defRPr>
            </a:pPr>
            <a:r>
              <a:rPr sz="1500" b="0">
                <a:solidFill>
                  <a:srgbClr val="3F3F46"/>
                </a:solidFill>
              </a:rPr>
              <a:t>Evidence and data limits appear before a check-status outcome.</a:t>
            </a:r>
          </a:p>
        </p:txBody>
      </p:sp>
    </p:spTree>
    <p:extLst>
      <p:ext uri="{BB962C8B-B14F-4D97-AF65-F5344CB8AC3E}">
        <p14:creationId xmlns:p14="http://schemas.microsoft.com/office/powerpoint/2010/main" val="540395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77CF6-1E12-4468-BF58-CDD3A359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59760-2D0E-456E-B9F7-029241EA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AD693-13B2-4461-97D6-ADB3A4C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03 · ROLE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86174-DEE3-40B2-A111-94CE967E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Mobile triages. Web analyzes.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3C099-900A-471D-B542-A4AE7431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The mobile screen gives enough context to decide whether to continue; the web workspace remains responsible for deeper financial research.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630B3-AF4F-4F0B-A05B-6A946587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57200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859FB-E2A3-4D3D-9D44-755DC45C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457200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53B03-BE0F-49EA-9B9E-A305F4B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432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803D"/>
                </a:solidFill>
              </a:defRPr>
            </a:pPr>
            <a:r>
              <a:rPr sz="2025" b="1">
                <a:solidFill>
                  <a:srgbClr val="15803D"/>
                </a:solidFill>
              </a:rPr>
              <a:t>Mobile · Triage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90438-A83F-4991-867F-2E5FC3E4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88B04-0257-48D0-980F-A8E582B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Event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00E9A-AC17-41C0-B1DC-8ACA9C4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9C244-1631-4BF8-9DD3-32A183CE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Asset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EA3DA-0E8D-4060-B033-43C821F4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911A9E-7779-4FD7-A9DA-F0381E59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814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Evidence and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46C6A-8D40-4B82-B264-5D1CFACF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6F604-B783-487D-800B-DB011B40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Concept handoff 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5D55E1-E3C1-4873-84A8-A762483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284C7"/>
                </a:solidFill>
              </a:defRPr>
            </a:pPr>
            <a:r>
              <a:rPr sz="2025" b="1">
                <a:solidFill>
                  <a:srgbClr val="0284C7"/>
                </a:solidFill>
              </a:rPr>
              <a:t>Web · Analysis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F8945-8D03-44F5-83FD-B6371583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0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28544-9079-4C67-861D-7E895A65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37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Deep research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B28ADB-AA19-4180-8A54-8DFB0C7A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1FA37-9A9E-4222-8751-94C8AFC6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Financial tables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2042D-9D5F-4854-8B66-499FABA5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952DBE-A4C5-470B-952D-FE0C410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814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Documents and transcripts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AC587-3FE5-471F-ADDB-E0A413FA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82968-E440-4336-9843-115644F8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F3F46"/>
                </a:solidFill>
              </a:defRPr>
            </a:pPr>
            <a:r>
              <a:rPr sz="1275" b="0">
                <a:solidFill>
                  <a:srgbClr val="3F3F46"/>
                </a:solidFill>
              </a:rPr>
              <a:t>Advanced charting</a:t>
            </a:r>
          </a:p>
        </p:txBody>
      </p:sp>
    </p:spTree>
    <p:extLst>
      <p:ext uri="{BB962C8B-B14F-4D97-AF65-F5344CB8AC3E}">
        <p14:creationId xmlns:p14="http://schemas.microsoft.com/office/powerpoint/2010/main" val="71243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F17E7F-60E7-4FF7-90FC-21E74F06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89C90-12E0-4051-A79F-0E0B288E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BD16C-BD80-4F76-869F-6669096B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04 · LOCKED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E3571-09C1-4B78-84BF-0A67E731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The screen reads evidence before outcome.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5883-629C-4F1F-9C2E-E0DC981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Visual emphasis follows the approved order so the outcome does not feel like an unsupported score.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33313946764ab7"/>
          <a:stretch xmlns:a="http://schemas.openxmlformats.org/drawingml/2006/main"/>
        </p:blipFill>
        <p:spPr>
          <a:xfrm xmlns:a="http://schemas.openxmlformats.org/drawingml/2006/main">
            <a:off x="7835477" y="762000"/>
            <a:ext cx="1797897" cy="52197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B40F0-11E7-432B-85A1-15DD8E8E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53146-68D1-483A-96AF-50F81FDA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AD972-7E45-41D9-8351-4F305429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55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822D8-906C-4B69-B7BB-946002A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66D3A-A694-4534-8DF9-98A2E6A7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4BBA3-32AC-40FF-8456-03F965B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Asset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5AF15-992E-4F2D-B828-F4E403B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FC82F-CD57-4A98-8F05-AA0CED56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50876-C8D7-4A11-B467-EC826CA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99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CE9F3-CA13-4332-8F9D-FABB24D6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07D3F-43E3-4B02-8C63-EDBBEFF8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CB814-64A5-43B8-B1DA-58EF9833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67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01D52-BA20-4EB3-9AA8-4DEE7B3F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07586-BBFF-4CC4-B93D-A96AB9D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5794E-9B1D-4B7F-AD05-3E64BE59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243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45BD5-9149-4A98-9B73-DB340EA8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4281C-F950-458D-BDEC-35B0B461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3867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</a:defRPr>
            </a:pPr>
            <a:r>
              <a:rPr sz="975" b="1">
                <a:solidFill>
                  <a:srgbClr val="15803D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C53303-0402-4801-92E9-D59A4BC4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181B"/>
                </a:solidFill>
              </a:defRPr>
            </a:pPr>
            <a:r>
              <a:rPr sz="1725" b="1">
                <a:solidFill>
                  <a:srgbClr val="18181B"/>
                </a:solidFill>
              </a:rPr>
              <a:t>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D5EA0-4A44-4E5C-A173-F561CF1E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A"/>
                </a:solidFill>
              </a:defRPr>
            </a:pPr>
            <a:r>
              <a:rPr sz="1500" b="1">
                <a:solidFill>
                  <a:srgbClr val="27272A"/>
                </a:solidFill>
              </a:rPr>
              <a:t>Outcome is visible, but it appears after relationship evidence and trust cues.</a:t>
            </a:r>
          </a:p>
        </p:txBody>
      </p:sp>
    </p:spTree>
    <p:extLst>
      <p:ext uri="{BB962C8B-B14F-4D97-AF65-F5344CB8AC3E}">
        <p14:creationId xmlns:p14="http://schemas.microsoft.com/office/powerpoint/2010/main" val="1064967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39CC3-1946-4D8E-A01E-8AEEFB46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C0A89-84FA-463E-BD55-0B3FB770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151A3-6DF0-4163-A144-161C0349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05 · SERVICE SCREEN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C37D2-EB2E-4DBB-BEB0-6FCDC6C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A real service frame, not a QA screen.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0c2547c4c4537"/>
          <a:stretch xmlns:a="http://schemas.openxmlformats.org/drawingml/2006/main"/>
        </p:blipFill>
        <p:spPr>
          <a:xfrm xmlns:a="http://schemas.openxmlformats.org/drawingml/2006/main">
            <a:off x="1317281" y="1962150"/>
            <a:ext cx="1251638" cy="4152900"/>
          </a:xfrm>
          <a:prstGeom xmlns:a="http://schemas.openxmlformats.org/drawingml/2006/main" prst="roundRect">
            <a:avLst>
              <a:gd name="adj" fmla="val 918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B1575-80A2-4707-AA19-639645E5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58FF4-6FA9-4BF0-9D08-593BE296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62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Section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42EC5-B0B9-4B89-9F34-C7733FA1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621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BB85B-200C-490E-A10C-648A5034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86025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02381-82C6-482A-89C1-5BDB334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Event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05504-6800-47D3-AAD9-242EECDD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What happened and when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A1E96-EE3E-4A07-A897-5694F0EF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75656-6BDB-4792-8C59-507723B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19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Asset Relationship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6D0CE-EB2C-478B-9A35-0715E027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194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Which asset is linked and how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74F2C-D1C4-4F8B-BFFB-CCFB667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43275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39A57F-6FFF-4E67-9889-F3D1C0DF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48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Portfolio / Attention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EB86B-2214-479F-AF3D-EA1B3E7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48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Holding, Watchlist, Related, or Unconnected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7C6DE-E932-4C23-88EB-E58C7756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93E38-58D2-491F-904B-F849D03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766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Evidence + 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E6547-2834-4FEA-AF4C-0C65930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76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Summary, source, timestamp, data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0AF9B-3F17-4972-8476-2C6620D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00525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EB6A5-252F-4DF2-BEE8-EA86D7B0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FE2A3-73B0-4210-A2DA-8988C316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Non-advisory check-status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7C55A4-4755-4334-9EF0-76ABD223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6096000" cy="352425"/>
          </a:xfrm>
          <a:prstGeom xmlns:a="http://schemas.openxmlformats.org/drawingml/2006/main" prst="roundRect">
            <a:avLst>
              <a:gd name="adj" fmla="val 37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954257-563C-4E34-975E-660A7BD2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339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Handoff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012AC-88BD-4A4A-BAA0-0050E40C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3392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Concept path to deeper web analysis</a:t>
            </a:r>
          </a:p>
        </p:txBody>
      </p:sp>
    </p:spTree>
    <p:extLst>
      <p:ext uri="{BB962C8B-B14F-4D97-AF65-F5344CB8AC3E}">
        <p14:creationId xmlns:p14="http://schemas.microsoft.com/office/powerpoint/2010/main" val="1015176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7817A-42C7-4834-A1DC-4E8793E8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2C203-00EB-4F3B-934A-41494364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1786D-6486-4CEE-85B5-12D5C345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06 · OUTCOME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9C4AE-849E-43D2-A5F0-EC30C29B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Outcomes are check-statuses.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E84BE-08C9-4C66-8902-5915BF5F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048000" cy="3810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5437777e3430e"/>
          <a:stretch xmlns:a="http://schemas.openxmlformats.org/drawingml/2006/main"/>
        </p:blipFill>
        <p:spPr>
          <a:xfrm xmlns:a="http://schemas.openxmlformats.org/drawingml/2006/main">
            <a:off x="1557509" y="2247900"/>
            <a:ext cx="752131" cy="2495550"/>
          </a:xfrm>
          <a:prstGeom xmlns:a="http://schemas.openxmlformats.org/drawingml/2006/main" prst="roundRect">
            <a:avLst>
              <a:gd name="adj" fmla="val 1525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BCD09-FF7C-43B3-81DF-4BEA754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8530-A560-471A-8FFA-B59607AE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029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580C"/>
                </a:solidFill>
              </a:defRPr>
            </a:pPr>
            <a:r>
              <a:rPr sz="825" b="1">
                <a:solidFill>
                  <a:srgbClr val="EA580C"/>
                </a:solidFill>
              </a:rPr>
              <a:t>CHECK_FURTHER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65A23-076B-4F87-92AF-89060699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More information is worth checking based on visible relationship and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465F3-5302-40E1-98E7-E03D2AEC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3048000" cy="3810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1183f854c456d"/>
          <a:stretch xmlns:a="http://schemas.openxmlformats.org/drawingml/2006/main"/>
        </p:blipFill>
        <p:spPr>
          <a:xfrm xmlns:a="http://schemas.openxmlformats.org/drawingml/2006/main">
            <a:off x="5086945" y="2247900"/>
            <a:ext cx="779859" cy="2495550"/>
          </a:xfrm>
          <a:prstGeom xmlns:a="http://schemas.openxmlformats.org/drawingml/2006/main" prst="roundRect">
            <a:avLst>
              <a:gd name="adj" fmla="val 15254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1A5F1-D7D3-4391-8D30-323C5604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5300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15DA7-5FB9-459D-AC06-C73B7BD7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29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3F46"/>
                </a:solidFill>
              </a:defRPr>
            </a:pPr>
            <a:r>
              <a:rPr sz="825" b="1">
                <a:solidFill>
                  <a:srgbClr val="3F3F46"/>
                </a:solidFill>
              </a:rPr>
              <a:t>NO_IMMEDIATE_CHECK_NEEDED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1B5FE-0C36-4455-BEA7-4E9CC13E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530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Visible evidence does not raise immediate check priority.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81504-3DFB-417D-82CA-4849EA0A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048000" cy="3810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83a7e0a1541ed"/>
          <a:stretch xmlns:a="http://schemas.openxmlformats.org/drawingml/2006/main"/>
        </p:blipFill>
        <p:spPr>
          <a:xfrm xmlns:a="http://schemas.openxmlformats.org/drawingml/2006/main">
            <a:off x="8628512" y="2247900"/>
            <a:ext cx="783325" cy="2495550"/>
          </a:xfrm>
          <a:prstGeom xmlns:a="http://schemas.openxmlformats.org/drawingml/2006/main" prst="roundRect">
            <a:avLst>
              <a:gd name="adj" fmla="val 1525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9BAF1-07AF-4373-B4C2-6FDFD554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53000"/>
            <a:ext cx="2343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22374-774C-40D1-A7C3-AB83D163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02920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A580C"/>
                </a:solidFill>
              </a:defRPr>
            </a:pPr>
            <a:r>
              <a:rPr sz="825" b="1">
                <a:solidFill>
                  <a:srgbClr val="EA580C"/>
                </a:solidFill>
              </a:rPr>
              <a:t>INSUFFICIENT_DATA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E46791-E14D-4F2C-B4B8-7574A34A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Relationship or evidence data is insufficient for a check-status judgment.</a:t>
            </a:r>
          </a:p>
        </p:txBody>
      </p:sp>
    </p:spTree>
    <p:extLst>
      <p:ext uri="{BB962C8B-B14F-4D97-AF65-F5344CB8AC3E}">
        <p14:creationId xmlns:p14="http://schemas.microsoft.com/office/powerpoint/2010/main" val="1818439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4914C-A240-4813-BA4E-41FA884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B889C-6269-4EA8-918E-8E0FAE3B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6568C-910A-4C6D-AA1D-F7BCF5B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07 · PORTFOLIO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5373E-6655-4218-82C9-BF934A6A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Portfolio contexts stay separate.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3E88A-7A89-4F99-BF5B-B57A658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The design avoids turning interest context into ownership or exposure.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32d706e03442f"/>
          <a:stretch xmlns:a="http://schemas.openxmlformats.org/drawingml/2006/main"/>
        </p:blipFill>
        <p:spPr>
          <a:xfrm xmlns:a="http://schemas.openxmlformats.org/drawingml/2006/main">
            <a:off x="1040156" y="2266950"/>
            <a:ext cx="815287" cy="27051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71ABC-5945-4F1E-A619-A65F7A83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E2C4C-FA38-41A0-900A-681636E7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197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3F46"/>
                </a:solidFill>
              </a:defRPr>
            </a:pPr>
            <a:r>
              <a:rPr sz="825" b="1">
                <a:solidFill>
                  <a:srgbClr val="3F3F46"/>
                </a:solidFill>
              </a:rPr>
              <a:t>Holding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bfd2289aa4c22"/>
          <a:stretch xmlns:a="http://schemas.openxmlformats.org/drawingml/2006/main"/>
        </p:blipFill>
        <p:spPr>
          <a:xfrm xmlns:a="http://schemas.openxmlformats.org/drawingml/2006/main">
            <a:off x="3615928" y="2266950"/>
            <a:ext cx="845344" cy="27051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24FE6-7ADA-49F8-8DF7-965428DA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3C80-674B-4C71-B665-061831EF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2197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3F46"/>
                </a:solidFill>
              </a:defRPr>
            </a:pPr>
            <a:r>
              <a:rPr sz="825" b="1">
                <a:solidFill>
                  <a:srgbClr val="3F3F46"/>
                </a:solidFill>
              </a:rPr>
              <a:t>Watchlist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0f7865b674053"/>
          <a:stretch xmlns:a="http://schemas.openxmlformats.org/drawingml/2006/main"/>
        </p:blipFill>
        <p:spPr>
          <a:xfrm xmlns:a="http://schemas.openxmlformats.org/drawingml/2006/main">
            <a:off x="6206728" y="2266950"/>
            <a:ext cx="845344" cy="27051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0670C-263F-42FA-A137-CB6E87D4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65A4E-B11C-4E87-AD34-58AF134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2197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3F46"/>
                </a:solidFill>
              </a:defRPr>
            </a:pPr>
            <a:r>
              <a:rPr sz="825" b="1">
                <a:solidFill>
                  <a:srgbClr val="3F3F46"/>
                </a:solidFill>
              </a:rPr>
              <a:t>Related-only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455b5570a47d3"/>
          <a:stretch xmlns:a="http://schemas.openxmlformats.org/drawingml/2006/main"/>
        </p:blipFill>
        <p:spPr>
          <a:xfrm xmlns:a="http://schemas.openxmlformats.org/drawingml/2006/main">
            <a:off x="8780621" y="2266950"/>
            <a:ext cx="879158" cy="2705100"/>
          </a:xfrm>
          <a:prstGeom xmlns:a="http://schemas.openxmlformats.org/drawingml/2006/main" prst="roundRect">
            <a:avLst>
              <a:gd name="adj" fmla="val 1406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34AD7-2F7D-4774-93CE-CFDBDE85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4350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B0495-DE5E-44DC-837F-674E9694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219700"/>
            <a:ext cx="971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F3F46"/>
                </a:solidFill>
              </a:defRPr>
            </a:pPr>
            <a:r>
              <a:rPr sz="825" b="1">
                <a:solidFill>
                  <a:srgbClr val="3F3F46"/>
                </a:solidFill>
              </a:rPr>
              <a:t>Unconnected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D523E4-FECC-443C-9CCB-BBA8DAF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272A"/>
                </a:solidFill>
              </a:defRPr>
            </a:pPr>
            <a:r>
              <a:rPr sz="1500" b="1">
                <a:solidFill>
                  <a:srgbClr val="27272A"/>
                </a:solidFill>
              </a:rPr>
              <a:t>No account amount, exposure metric, return claim, or personal-asset scoring is introduced.</a:t>
            </a:r>
          </a:p>
        </p:txBody>
      </p:sp>
    </p:spTree>
    <p:extLst>
      <p:ext uri="{BB962C8B-B14F-4D97-AF65-F5344CB8AC3E}">
        <p14:creationId xmlns:p14="http://schemas.microsoft.com/office/powerpoint/2010/main" val="1648040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18A0B-D597-4DB7-813E-FA86C6F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E7809-C1A4-4D13-BFF6-838BC337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3967B-6F75-49BD-A24D-FC942F4F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08 · TRUST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D6D93-9C75-4B65-A36F-65AD3F09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Uncertainty is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4DFA-0859-4A9B-B28F-A495EBBC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Partial, empty, stale, source unavailable, permission, and error states preserve trust by exposing the limitation.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cd72bac364505"/>
          <a:stretch xmlns:a="http://schemas.openxmlformats.org/drawingml/2006/main"/>
        </p:blipFill>
        <p:spPr>
          <a:xfrm xmlns:a="http://schemas.openxmlformats.org/drawingml/2006/main">
            <a:off x="932603" y="2362200"/>
            <a:ext cx="687493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F155E-48B2-4A48-814A-B9BAE118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Partial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5a61ce6dd46f7"/>
          <a:stretch xmlns:a="http://schemas.openxmlformats.org/drawingml/2006/main"/>
        </p:blipFill>
        <p:spPr>
          <a:xfrm xmlns:a="http://schemas.openxmlformats.org/drawingml/2006/main">
            <a:off x="2665254" y="2362200"/>
            <a:ext cx="727392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4089E-E639-4EA7-8D6F-AA0001F1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Empty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43888bb01453b"/>
          <a:stretch xmlns:a="http://schemas.openxmlformats.org/drawingml/2006/main"/>
        </p:blipFill>
        <p:spPr>
          <a:xfrm xmlns:a="http://schemas.openxmlformats.org/drawingml/2006/main">
            <a:off x="4436269" y="2362200"/>
            <a:ext cx="690563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CE749-DEA9-444D-9FFB-5BE917C0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Stale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df09f35b846c5"/>
          <a:stretch xmlns:a="http://schemas.openxmlformats.org/drawingml/2006/main"/>
        </p:blipFill>
        <p:spPr>
          <a:xfrm xmlns:a="http://schemas.openxmlformats.org/drawingml/2006/main">
            <a:off x="6190403" y="2362200"/>
            <a:ext cx="687493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E8805-070F-44A0-A5D6-2AC4D31A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Source unavailable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9cf47a5ca405c"/>
          <a:stretch xmlns:a="http://schemas.openxmlformats.org/drawingml/2006/main"/>
        </p:blipFill>
        <p:spPr>
          <a:xfrm xmlns:a="http://schemas.openxmlformats.org/drawingml/2006/main">
            <a:off x="7935330" y="2362200"/>
            <a:ext cx="702839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ECD05-5B16-4652-8AF6-B5AE9323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Permission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81956f60a4735"/>
          <a:stretch xmlns:a="http://schemas.openxmlformats.org/drawingml/2006/main"/>
        </p:blipFill>
        <p:spPr>
          <a:xfrm xmlns:a="http://schemas.openxmlformats.org/drawingml/2006/main">
            <a:off x="9674119" y="2362200"/>
            <a:ext cx="730462" cy="2209800"/>
          </a:xfrm>
          <a:prstGeom xmlns:a="http://schemas.openxmlformats.org/drawingml/2006/main" prst="roundRect">
            <a:avLst>
              <a:gd name="adj" fmla="val 17308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44E10-47D8-4FAC-A667-10A13D4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244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Generic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25D7D-8792-4C12-B65D-DEA3EBFB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239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C9976-DBA9-4E3F-9411-5352B21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</a:defRPr>
            </a:pPr>
            <a:r>
              <a:rPr sz="1350" b="1">
                <a:solidFill>
                  <a:srgbClr val="EA580C"/>
                </a:solidFill>
              </a:rPr>
              <a:t>Evidence cards keep source, timestamp, summary distinction, and data state visible before the outcome.</a:t>
            </a:r>
          </a:p>
        </p:txBody>
      </p:sp>
    </p:spTree>
    <p:extLst>
      <p:ext uri="{BB962C8B-B14F-4D97-AF65-F5344CB8AC3E}">
        <p14:creationId xmlns:p14="http://schemas.microsoft.com/office/powerpoint/2010/main" val="358117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A31DD-8BB2-48EE-B005-69B1005B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B5619-D4DE-4ECF-9AEC-F5B1588D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57837-8658-4111-B522-85213E37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09 · RESPONSIVE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5E741-88E6-4803-8D52-0E65BFEE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One implementation holds across widths.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3f62a002748cf"/>
          <a:stretch xmlns:a="http://schemas.openxmlformats.org/drawingml/2006/main"/>
        </p:blipFill>
        <p:spPr>
          <a:xfrm xmlns:a="http://schemas.openxmlformats.org/drawingml/2006/main">
            <a:off x="1788319" y="1638300"/>
            <a:ext cx="900113" cy="36004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670EA-C8A8-4ABC-8E5A-AC4621CC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48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20DDD-F0AB-4031-BDC9-E21918E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52450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284C7"/>
                </a:solidFill>
              </a:defRPr>
            </a:pPr>
            <a:r>
              <a:rPr sz="825" b="1">
                <a:solidFill>
                  <a:srgbClr val="0284C7"/>
                </a:solidFill>
              </a:rPr>
              <a:t>320 stress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25e51525949b8"/>
          <a:stretch xmlns:a="http://schemas.openxmlformats.org/drawingml/2006/main"/>
        </p:blipFill>
        <p:spPr>
          <a:xfrm xmlns:a="http://schemas.openxmlformats.org/drawingml/2006/main">
            <a:off x="4743807" y="1638300"/>
            <a:ext cx="1085136" cy="36004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B6C74-21C8-40AA-90EE-8945ECD5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48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D3E57-9997-491B-8CF7-213FD82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2450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284C7"/>
                </a:solidFill>
              </a:defRPr>
            </a:pPr>
            <a:r>
              <a:rPr sz="825" b="1">
                <a:solidFill>
                  <a:srgbClr val="0284C7"/>
                </a:solidFill>
              </a:rPr>
              <a:t>360 full state set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a035d68ca44da"/>
          <a:stretch xmlns:a="http://schemas.openxmlformats.org/drawingml/2006/main"/>
        </p:blipFill>
        <p:spPr>
          <a:xfrm xmlns:a="http://schemas.openxmlformats.org/drawingml/2006/main">
            <a:off x="7714298" y="1638300"/>
            <a:ext cx="1240155" cy="3600450"/>
          </a:xfrm>
          <a:prstGeom xmlns:a="http://schemas.openxmlformats.org/drawingml/2006/main" prst="roundRect">
            <a:avLst>
              <a:gd name="adj" fmla="val 1058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9C5C7-2623-47EC-B47C-D9AF4B17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4830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03B56-7B5B-4101-BEB3-C2719CD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524500"/>
            <a:ext cx="1371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284C7"/>
                </a:solidFill>
              </a:defRPr>
            </a:pPr>
            <a:r>
              <a:rPr sz="825" b="1">
                <a:solidFill>
                  <a:srgbClr val="0284C7"/>
                </a:solidFill>
              </a:rPr>
              <a:t>390 full state set</a:t>
            </a:r>
          </a:p>
        </p:txBody>
      </p:sp>
    </p:spTree>
    <p:extLst>
      <p:ext uri="{BB962C8B-B14F-4D97-AF65-F5344CB8AC3E}">
        <p14:creationId xmlns:p14="http://schemas.microsoft.com/office/powerpoint/2010/main" val="1141856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2EAAB-63CC-4A42-AEB1-4690521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89684-999C-432F-9F4C-4B0E174D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018B7-B1C6-42BF-B23E-B29840AA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10 · VISUAL QA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B7E0-3579-47CF-8EB4-0DAB5877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Chromium evidence supports high-fidelity PASS.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5C343-9AA0-405F-A77D-164EBC18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81EF2-2726-4F51-AF3F-33726D2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3A704-5C55-48ED-8CEC-62BE4540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43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7F30C-0573-48AC-9547-4478D5C2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E8610-4540-43C2-90E1-D0F851BF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Static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950DA-0158-4404-B473-8790942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19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6E07E-7605-48FD-A157-F001D06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2950B-694F-4E53-AFB5-6F7B2531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Chromium screenshots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A4AD8-65FA-4204-A2A8-F585922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956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34 generated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95E26-61BF-42AD-824D-C6080089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7DB8F-E66E-43A2-8F6A-BA0531EB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360x800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67ED5-1335-4FDB-9C78-3209C5BD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15 states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13BDA2-DDD5-4247-BAB7-9E94E19C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7760D-CAD7-4243-98FC-EF3AF456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48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390x844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8741A-95CC-4017-99E9-42F9830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48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15 states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56C68-856A-4F2F-8E6E-ECA384E7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AF054-FD43-4C60-9B0F-6C9614E2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320x800 stress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6A494-C998-413B-B239-E5098A47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243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4 states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84396A-8A0D-4F48-94BD-661EDEAF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7239000" cy="4000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0D560-C007-4FF8-85C8-847F334C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BLOCKER / MAJOR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44E73D-C23E-4DDD-B245-4C20E71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006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0 confirmed in visual review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34e0d2d764656"/>
          <a:stretch xmlns:a="http://schemas.openxmlformats.org/drawingml/2006/main"/>
        </p:blipFill>
        <p:spPr>
          <a:xfrm xmlns:a="http://schemas.openxmlformats.org/drawingml/2006/main">
            <a:off x="9302644" y="1581150"/>
            <a:ext cx="882862" cy="3276600"/>
          </a:xfrm>
          <a:prstGeom xmlns:a="http://schemas.openxmlformats.org/drawingml/2006/main" prst="roundRect">
            <a:avLst>
              <a:gd name="adj" fmla="val 11688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B8155-EBDD-4866-A8A5-4B7D2D2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1F74D9-0322-4DEE-BC01-1EE8B41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295900"/>
            <a:ext cx="175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C2626"/>
                </a:solidFill>
              </a:defRPr>
            </a:pPr>
            <a:r>
              <a:rPr sz="825" b="1">
                <a:solidFill>
                  <a:srgbClr val="DC2626"/>
                </a:solidFill>
              </a:rPr>
              <a:t>Production remains BLOCKED</a:t>
            </a:r>
          </a:p>
        </p:txBody>
      </p:sp>
    </p:spTree>
    <p:extLst>
      <p:ext uri="{BB962C8B-B14F-4D97-AF65-F5344CB8AC3E}">
        <p14:creationId xmlns:p14="http://schemas.microsoft.com/office/powerpoint/2010/main" val="1856739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B5DB6-3A5D-443F-A32F-AEC522AA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CA90F-631F-4983-B27A-E4B76606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0AFF-63AE-4C1A-B5AC-C5C10BA7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11 · DESIGN-SYSTEM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3FB83-D0CA-44D5-80A0-DD8A5176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The deck follows the Git reference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B5BE3-9636-4DF7-9CCC-D36078C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Tokens and reference components provide visual continuity without changing Product policy.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8D2AE-2DA7-43F7-8D7A-74A33D5B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73D15-34B7-4615-A646-6B610D8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272A"/>
                </a:solidFill>
              </a:defRPr>
            </a:pPr>
            <a:r>
              <a:rPr sz="975" b="1">
                <a:solidFill>
                  <a:srgbClr val="27272A"/>
                </a:solidFill>
              </a:rPr>
              <a:t>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84323-AAEF-497D-82BB-71E77812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431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F3F46"/>
                </a:solidFill>
              </a:defRPr>
            </a:pPr>
            <a:r>
              <a:rPr sz="975" b="0">
                <a:solidFill>
                  <a:srgbClr val="3F3F46"/>
                </a:solidFill>
              </a:rPr>
              <a:t>Design-system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BCFF1-A87E-4C2F-9C20-FE5710B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28AC7-BEBA-47F6-9CD0-C2B22D77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86511-8D68-48DF-BCB7-09D62003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03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--nf-surface-dashboard-mobile, --nf-surface-card, --nf-surface-card-muted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348B7-C4B1-4E10-8BE7-18DE99A5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766CE-6E5C-47CA-A9D4-A222378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7D1A8-134B-4DB6-B0CF-5D3C4C4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575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--nf-font-sans, --nf-text-* scale, --nf-weight-*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6F7B2-48C6-454C-B085-CECFBA5A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F98E0-441A-469F-90F3-ED53DA4D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Cards / badges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79E66-207D-465F-A628-621A9ACE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147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cards-and-surfaces.md, badges-tabs-filters.md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82192-35A2-4CFB-8A67-57E7656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F03BE-B623-4366-926F-C6BD2C8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19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Evidence / 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646D4-E779-43BF-9F4A-40A51768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719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data-and-evidence.md, trust-and-data-state.md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C6421-45F7-4B0E-BCB4-F42EA269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3400D-516B-41A7-BAA3-0DD5E239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Feedback / CTA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C14AE-AB7A-4D9A-A328-E81DCFD7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291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feedback-states.md, buttons-and-cta.md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60BC8-5F7D-47D1-925A-AF2CD065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8572500" cy="381000"/>
          </a:xfrm>
          <a:prstGeom xmlns:a="http://schemas.openxmlformats.org/drawingml/2006/main" prst="roundRect">
            <a:avLst>
              <a:gd name="adj" fmla="val 3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520C6-1FF1-46A9-ACA4-89C19D5E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863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272A"/>
                </a:solidFill>
              </a:defRPr>
            </a:pPr>
            <a:r>
              <a:rPr sz="1050" b="1">
                <a:solidFill>
                  <a:srgbClr val="27272A"/>
                </a:solidFill>
              </a:rPr>
              <a:t>Outcome surfaces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2BD581-2A83-43B9-94BC-AFDACCB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8632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F3F46"/>
                </a:solidFill>
              </a:defRPr>
            </a:pPr>
            <a:r>
              <a:rPr sz="1050" b="0">
                <a:solidFill>
                  <a:srgbClr val="3F3F46"/>
                </a:solidFill>
              </a:rPr>
              <a:t>--nf-outcome-* as secondary cue only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ABF3A5-A18A-4AD4-B0F4-0AE3FB58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DB363D-BE69-49FD-982F-11CA316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19750"/>
            <a:ext cx="1562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New components: NONE</a:t>
            </a:r>
          </a:p>
        </p:txBody>
      </p:sp>
    </p:spTree>
    <p:extLst>
      <p:ext uri="{BB962C8B-B14F-4D97-AF65-F5344CB8AC3E}">
        <p14:creationId xmlns:p14="http://schemas.microsoft.com/office/powerpoint/2010/main" val="868434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62FFE-EAA3-4D29-B61F-8FE39E2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Portfolio-aware Event Triage ·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473D2-0C9C-43FC-B48A-2D9A4D7B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4198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1717A"/>
                </a:solidFill>
              </a:defRPr>
            </a:pPr>
            <a:r>
              <a:rPr sz="825" b="0">
                <a:solidFill>
                  <a:srgbClr val="71717A"/>
                </a:solidFill>
              </a:rPr>
              <a:t>High-fidelity concept · Production blocked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A52D91-1224-4BD0-99AB-BDEF51AF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1717A"/>
                </a:solidFill>
              </a:defRPr>
            </a:pPr>
            <a:r>
              <a:rPr sz="900" b="1">
                <a:solidFill>
                  <a:srgbClr val="71717A"/>
                </a:solidFill>
              </a:rPr>
              <a:t>12 · REMAINING LIMITS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85EA9-DD2A-4498-85E3-58CDC608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181B"/>
                </a:solidFill>
              </a:defRPr>
            </a:pPr>
            <a:r>
              <a:rPr sz="2850" b="1">
                <a:solidFill>
                  <a:srgbClr val="18181B"/>
                </a:solidFill>
              </a:rPr>
              <a:t>The case study ends with the work that is still unresolved.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780A2-22F9-4E6C-AF20-093F2C71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28625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31A02-F294-4B10-BA2B-81D8CED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Still not tested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AA392-AFFC-447F-938D-69093A35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77DE0-CA33-4358-819B-EB84E597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Screen reader manual 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74755-EE9B-4EBC-8D7B-FAB0E072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CCB9A-FCC1-4B85-8F9C-45F4EFCC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09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Real App/Web back route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58349-8DA5-45D3-A5BC-5D001380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25281-DF76-41B8-BB63-BA4CB5B6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29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Real user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92F0A-8C39-496B-AD74-3701922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0250"/>
            <a:ext cx="4286250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4F5"/>
          </a:solidFill>
          <a:ln xmlns:a="http://schemas.openxmlformats.org/drawingml/2006/main" w="9525">
            <a:solidFill>
              <a:srgbClr val="E4E4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DC70F-1C27-4C90-A132-01F99F86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272A"/>
                </a:solidFill>
              </a:defRPr>
            </a:pPr>
            <a:r>
              <a:rPr sz="2100" b="1">
                <a:solidFill>
                  <a:srgbClr val="27272A"/>
                </a:solidFill>
              </a:rPr>
              <a:t>Production remains blocked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C0699-CBD8-4BE3-8EE1-428710F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57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3F38E-1B34-4419-9FE4-544720F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Data contract and fields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C6F06-1E7C-4879-AEF6-A9517467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76254-5380-4B3A-B6A0-77E5FA7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Outcome logic and freshness 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2B439-14C5-4300-9B42-E226D46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71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94278-F0D7-4751-9884-5AAE624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3F46"/>
                </a:solidFill>
              </a:defRPr>
            </a:pPr>
            <a:r>
              <a:rPr sz="1425" b="0">
                <a:solidFill>
                  <a:srgbClr val="3F3F46"/>
                </a:solidFill>
              </a:rPr>
              <a:t>Handoff payload and API 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E45A1-A73F-4348-B483-73FD292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272A"/>
                </a:solidFill>
              </a:defRPr>
            </a:pPr>
            <a:r>
              <a:rPr sz="1650" b="1">
                <a:solidFill>
                  <a:srgbClr val="27272A"/>
                </a:solidFill>
              </a:rPr>
              <a:t>Next: transfer these frames into Figma or a final portfolio platform, preserving the same claim boundary.</a:t>
            </a:r>
          </a:p>
        </p:txBody>
      </p:sp>
    </p:spTree>
    <p:extLst>
      <p:ext uri="{BB962C8B-B14F-4D97-AF65-F5344CB8AC3E}">
        <p14:creationId xmlns:p14="http://schemas.microsoft.com/office/powerpoint/2010/main" val="856902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2026-09-06T04:06:37.0460000Z</dcterms:created>
  <dcterms:modified xsi:type="dcterms:W3CDTF">2026-09-06T04:06:37.0460000Z</dcterms:modified>
</coreProperties>
</file>